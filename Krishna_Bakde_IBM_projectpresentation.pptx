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90" r:id="rId2"/>
    <p:sldId id="291" r:id="rId3"/>
    <p:sldId id="292" r:id="rId4"/>
    <p:sldId id="293" r:id="rId5"/>
    <p:sldId id="294" r:id="rId6"/>
    <p:sldId id="295" r:id="rId7"/>
    <p:sldId id="296" r:id="rId8"/>
    <p:sldId id="297" r:id="rId9"/>
    <p:sldId id="298" r:id="rId10"/>
    <p:sldId id="299" r:id="rId11"/>
    <p:sldId id="301" r:id="rId12"/>
    <p:sldId id="302" r:id="rId13"/>
    <p:sldId id="303" r:id="rId14"/>
    <p:sldId id="310" r:id="rId15"/>
    <p:sldId id="311" r:id="rId16"/>
    <p:sldId id="304" r:id="rId17"/>
    <p:sldId id="305" r:id="rId18"/>
    <p:sldId id="306" r:id="rId19"/>
    <p:sldId id="307" r:id="rId20"/>
    <p:sldId id="308" r:id="rId21"/>
    <p:sldId id="309"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9FC8956-0F58-4C4C-BD39-E82491D6B349}">
          <p14:sldIdLst>
            <p14:sldId id="290"/>
            <p14:sldId id="291"/>
          </p14:sldIdLst>
        </p14:section>
        <p14:section name="Untitled Section" id="{7E47F453-01AB-435C-82CF-ECCA2B0BA79F}">
          <p14:sldIdLst>
            <p14:sldId id="292"/>
            <p14:sldId id="293"/>
            <p14:sldId id="294"/>
            <p14:sldId id="295"/>
            <p14:sldId id="296"/>
            <p14:sldId id="297"/>
            <p14:sldId id="298"/>
            <p14:sldId id="299"/>
            <p14:sldId id="301"/>
            <p14:sldId id="302"/>
            <p14:sldId id="303"/>
            <p14:sldId id="310"/>
            <p14:sldId id="311"/>
            <p14:sldId id="304"/>
            <p14:sldId id="305"/>
            <p14:sldId id="306"/>
            <p14:sldId id="307"/>
            <p14:sldId id="308"/>
            <p14:sldId id="309"/>
          </p14:sldIdLst>
        </p14:section>
      </p14:section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45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672"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6335907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3623703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sz="2000" dirty="0" smtClean="0"/>
                        <a:t>Krishna </a:t>
                      </a:r>
                      <a:r>
                        <a:rPr lang="en-US" sz="2000" dirty="0" err="1" smtClean="0"/>
                        <a:t>Bakde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krishnabkd@gmail.com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9131154307</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endParaRPr lang="en-IN" sz="2400" b="1" dirty="0">
              <a:highlight>
                <a:srgbClr val="FFFF00"/>
              </a:highlight>
            </a:endParaRPr>
          </a:p>
        </p:txBody>
      </p:sp>
      <p:sp>
        <p:nvSpPr>
          <p:cNvPr id="3" name="TextBox 2">
            <a:extLst>
              <a:ext uri="{FF2B5EF4-FFF2-40B4-BE49-F238E27FC236}">
                <a16:creationId xmlns:a16="http://schemas.microsoft.com/office/drawing/2014/main" xmlns=""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33400" y="797778"/>
            <a:ext cx="11201400" cy="5447645"/>
          </a:xfrm>
          <a:prstGeom prst="rect">
            <a:avLst/>
          </a:prstGeom>
          <a:noFill/>
        </p:spPr>
        <p:txBody>
          <a:bodyPr wrap="square" rtlCol="0">
            <a:spAutoFit/>
          </a:bodyPr>
          <a:lstStyle/>
          <a:p>
            <a:pPr fontAlgn="base"/>
            <a:r>
              <a:rPr lang="en-US" sz="2000" b="1" dirty="0" smtClean="0"/>
              <a:t>The Challenge</a:t>
            </a:r>
            <a:r>
              <a:rPr lang="en-US" sz="2400" dirty="0"/>
              <a:t> </a:t>
            </a:r>
            <a:r>
              <a:rPr lang="en-US" sz="2400" dirty="0" smtClean="0"/>
              <a:t>:</a:t>
            </a:r>
            <a:r>
              <a:rPr lang="en-US" sz="2800" dirty="0" smtClean="0"/>
              <a:t> </a:t>
            </a:r>
            <a:r>
              <a:rPr lang="en-US" sz="2000" dirty="0" smtClean="0"/>
              <a:t>Students </a:t>
            </a:r>
            <a:r>
              <a:rPr lang="en-US" sz="2000" dirty="0"/>
              <a:t>often struggle to choose the right </a:t>
            </a:r>
            <a:r>
              <a:rPr lang="en-US" sz="2000" b="1" dirty="0"/>
              <a:t>stream, course, and career path</a:t>
            </a:r>
            <a:r>
              <a:rPr lang="en-US" sz="2000" dirty="0"/>
              <a:t>. Information about courses, skills, colleges, and job opportunities is scattered across different sources. Without </a:t>
            </a:r>
            <a:r>
              <a:rPr lang="en-US" sz="2000" b="1" dirty="0"/>
              <a:t>personalized guidance</a:t>
            </a:r>
            <a:r>
              <a:rPr lang="en-US" sz="2000" dirty="0"/>
              <a:t>, students may make uninformed academic and career decisions</a:t>
            </a:r>
            <a:r>
              <a:rPr lang="en-US" sz="2000" dirty="0" smtClean="0"/>
              <a:t>.</a:t>
            </a:r>
          </a:p>
          <a:p>
            <a:pPr fontAlgn="base"/>
            <a:endParaRPr lang="en-US" sz="1000" dirty="0"/>
          </a:p>
          <a:p>
            <a:r>
              <a:rPr lang="en-US" sz="2000" b="1" dirty="0"/>
              <a:t>The </a:t>
            </a:r>
            <a:r>
              <a:rPr lang="en-US" sz="2000" b="1" dirty="0" smtClean="0"/>
              <a:t>Objective : </a:t>
            </a:r>
            <a:r>
              <a:rPr lang="en-US" sz="2000" dirty="0" smtClean="0"/>
              <a:t>Build </a:t>
            </a:r>
            <a:r>
              <a:rPr lang="en-US" sz="2000" dirty="0"/>
              <a:t>an </a:t>
            </a:r>
            <a:r>
              <a:rPr lang="en-US" sz="2000" b="1" dirty="0"/>
              <a:t>AI-powered Career Guidance Agent</a:t>
            </a:r>
            <a:r>
              <a:rPr lang="en-US" sz="2000" dirty="0"/>
              <a:t> that provides </a:t>
            </a:r>
            <a:r>
              <a:rPr lang="en-US" sz="2000" b="1" dirty="0"/>
              <a:t>personalized academic and career guidance</a:t>
            </a:r>
            <a:r>
              <a:rPr lang="en-US" sz="2000" dirty="0"/>
              <a:t> for students. The solution should</a:t>
            </a:r>
            <a:r>
              <a:rPr lang="en-US" sz="2000" dirty="0" smtClean="0"/>
              <a:t>:</a:t>
            </a:r>
          </a:p>
          <a:p>
            <a:endParaRPr lang="en-US" sz="1000" dirty="0"/>
          </a:p>
          <a:p>
            <a:r>
              <a:rPr lang="en-US" sz="2000" b="1" dirty="0"/>
              <a:t>Career &amp; Stream Guidance</a:t>
            </a:r>
            <a:r>
              <a:rPr lang="en-US" sz="2000" dirty="0"/>
              <a:t> – Recommend suitable streams and courses based on interests and goals. </a:t>
            </a:r>
          </a:p>
          <a:p>
            <a:r>
              <a:rPr lang="en-US" sz="2000" b="1" dirty="0"/>
              <a:t>Learning Roadmaps</a:t>
            </a:r>
            <a:r>
              <a:rPr lang="en-US" sz="2000" dirty="0"/>
              <a:t> – Provide year-wise study plans, skills, and certifications. </a:t>
            </a:r>
          </a:p>
          <a:p>
            <a:r>
              <a:rPr lang="en-US" sz="2000" b="1" dirty="0"/>
              <a:t>Career Information</a:t>
            </a:r>
            <a:r>
              <a:rPr lang="en-US" sz="2000" dirty="0"/>
              <a:t> – Offer details on courses, colleges, entrance exams, and job opportunities. </a:t>
            </a:r>
          </a:p>
          <a:p>
            <a:r>
              <a:rPr lang="en-US" sz="2000" b="1" dirty="0"/>
              <a:t>Personalized Recommendations</a:t>
            </a:r>
            <a:r>
              <a:rPr lang="en-US" sz="2000" dirty="0"/>
              <a:t> – Suggest projects, internships, and learning resources. </a:t>
            </a:r>
          </a:p>
          <a:p>
            <a:r>
              <a:rPr lang="en-US" sz="2000" b="1" dirty="0"/>
              <a:t>Multi-Agent </a:t>
            </a:r>
            <a:r>
              <a:rPr lang="en-US" sz="2000" b="1" dirty="0" smtClean="0"/>
              <a:t>System - </a:t>
            </a:r>
            <a:r>
              <a:rPr lang="en-US" sz="2000" dirty="0"/>
              <a:t> </a:t>
            </a:r>
            <a:r>
              <a:rPr lang="en-US" sz="2000" dirty="0" smtClean="0"/>
              <a:t>Career Guidance Agent </a:t>
            </a:r>
          </a:p>
          <a:p>
            <a:pPr lvl="1"/>
            <a:r>
              <a:rPr lang="en-US" sz="2000" dirty="0" smtClean="0"/>
              <a:t>		            Roadmap </a:t>
            </a:r>
            <a:r>
              <a:rPr lang="en-US" sz="2000" dirty="0"/>
              <a:t>Agent </a:t>
            </a:r>
          </a:p>
          <a:p>
            <a:pPr lvl="1"/>
            <a:r>
              <a:rPr lang="en-US" sz="2000" dirty="0" smtClean="0"/>
              <a:t>		            Skill </a:t>
            </a:r>
            <a:r>
              <a:rPr lang="en-US" sz="2000" dirty="0"/>
              <a:t>Development Agent </a:t>
            </a:r>
          </a:p>
          <a:p>
            <a:pPr lvl="1"/>
            <a:r>
              <a:rPr lang="en-US" sz="2000" dirty="0" smtClean="0"/>
              <a:t>		            Career </a:t>
            </a:r>
            <a:r>
              <a:rPr lang="en-US" sz="2000" dirty="0"/>
              <a:t>Insights Agent </a:t>
            </a:r>
          </a:p>
          <a:p>
            <a:r>
              <a:rPr lang="en-US" sz="2000" b="1" dirty="0"/>
              <a:t>Student Dashboard</a:t>
            </a:r>
            <a:r>
              <a:rPr lang="en-US" sz="2000" dirty="0"/>
              <a:t> – Display profile, roadmap, recommended skills, and career progress.</a:t>
            </a:r>
          </a:p>
        </p:txBody>
      </p:sp>
      <p:sp>
        <p:nvSpPr>
          <p:cNvPr id="3" name="TextBox 2">
            <a:extLst>
              <a:ext uri="{FF2B5EF4-FFF2-40B4-BE49-F238E27FC236}">
                <a16:creationId xmlns:a16="http://schemas.microsoft.com/office/drawing/2014/main" xmlns="" id="{3847FA31-EA47-D27A-9D69-AF50A3080AEC}"/>
              </a:ext>
            </a:extLst>
          </p:cNvPr>
          <p:cNvSpPr txBox="1"/>
          <p:nvPr/>
        </p:nvSpPr>
        <p:spPr>
          <a:xfrm>
            <a:off x="1600200" y="224135"/>
            <a:ext cx="9177528" cy="461665"/>
          </a:xfrm>
          <a:prstGeom prst="rect">
            <a:avLst/>
          </a:prstGeom>
          <a:noFill/>
        </p:spPr>
        <p:txBody>
          <a:bodyPr wrap="square" rtlCol="0">
            <a:spAutoFit/>
          </a:bodyPr>
          <a:lstStyle/>
          <a:p>
            <a:r>
              <a:rPr lang="en-US" sz="2400" b="1" dirty="0"/>
              <a:t>Problem Statement </a:t>
            </a:r>
            <a:r>
              <a:rPr lang="en-US" sz="2400" b="1" dirty="0" smtClean="0"/>
              <a:t>– </a:t>
            </a:r>
            <a:r>
              <a:rPr lang="en-US" sz="2400" dirty="0" err="1"/>
              <a:t>EduPath</a:t>
            </a:r>
            <a:r>
              <a:rPr lang="en-US" sz="2400" dirty="0"/>
              <a:t> – AI Career Guidance Agent</a:t>
            </a:r>
            <a:endParaRPr lang="en-IN" sz="2400" b="1" dirty="0"/>
          </a:p>
        </p:txBody>
      </p:sp>
    </p:spTree>
    <p:extLst>
      <p:ext uri="{BB962C8B-B14F-4D97-AF65-F5344CB8AC3E}">
        <p14:creationId xmlns:p14="http://schemas.microsoft.com/office/powerpoint/2010/main" val="2616533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527F30CC-07EF-8FCC-DA00-C9212F5DAECE}"/>
              </a:ext>
            </a:extLst>
          </p:cNvPr>
          <p:cNvSpPr txBox="1"/>
          <p:nvPr/>
        </p:nvSpPr>
        <p:spPr>
          <a:xfrm>
            <a:off x="2209800" y="376535"/>
            <a:ext cx="8471916" cy="461665"/>
          </a:xfrm>
          <a:prstGeom prst="rect">
            <a:avLst/>
          </a:prstGeom>
          <a:noFill/>
        </p:spPr>
        <p:txBody>
          <a:bodyPr wrap="square" rtlCol="0">
            <a:spAutoFit/>
          </a:bodyPr>
          <a:lstStyle/>
          <a:p>
            <a:r>
              <a:rPr lang="en-US" sz="2400" b="1" dirty="0"/>
              <a:t>Proposed Solution </a:t>
            </a:r>
            <a:r>
              <a:rPr lang="en-US" sz="2400" b="1" dirty="0" smtClean="0"/>
              <a:t>- </a:t>
            </a:r>
            <a:r>
              <a:rPr lang="en-US" sz="2400" dirty="0" err="1"/>
              <a:t>EduPath</a:t>
            </a:r>
            <a:r>
              <a:rPr lang="en-US" sz="2400" dirty="0"/>
              <a:t> – AI Career Guidance Agent</a:t>
            </a:r>
            <a:endParaRPr lang="en-IN" sz="2400" b="1" dirty="0"/>
          </a:p>
        </p:txBody>
      </p:sp>
      <p:sp>
        <p:nvSpPr>
          <p:cNvPr id="4" name="Rectangle 3"/>
          <p:cNvSpPr/>
          <p:nvPr/>
        </p:nvSpPr>
        <p:spPr>
          <a:xfrm>
            <a:off x="1143000" y="1079242"/>
            <a:ext cx="9829800" cy="5016758"/>
          </a:xfrm>
          <a:prstGeom prst="rect">
            <a:avLst/>
          </a:prstGeom>
        </p:spPr>
        <p:txBody>
          <a:bodyPr wrap="square">
            <a:spAutoFit/>
          </a:bodyPr>
          <a:lstStyle/>
          <a:p>
            <a:r>
              <a:rPr lang="en-US" sz="2000" dirty="0"/>
              <a:t>The proposed solution is an </a:t>
            </a:r>
            <a:r>
              <a:rPr lang="en-US" sz="2000" b="1" dirty="0"/>
              <a:t>AI-powered Career Guidance Agent</a:t>
            </a:r>
            <a:r>
              <a:rPr lang="en-US" sz="2000" dirty="0"/>
              <a:t> built using </a:t>
            </a:r>
            <a:r>
              <a:rPr lang="en-US" sz="2000" b="1" dirty="0"/>
              <a:t>IBM </a:t>
            </a:r>
            <a:r>
              <a:rPr lang="en-US" sz="2000" b="1" dirty="0" err="1"/>
              <a:t>watsonx</a:t>
            </a:r>
            <a:r>
              <a:rPr lang="en-US" sz="2000" b="1" dirty="0"/>
              <a:t> Orchestrate, IBM BOB, Python Flask, and Granite Models</a:t>
            </a:r>
            <a:r>
              <a:rPr lang="en-US" sz="2000" dirty="0"/>
              <a:t> to provide personalized academic and career guidance</a:t>
            </a:r>
            <a:r>
              <a:rPr lang="en-US" sz="2000" dirty="0" smtClean="0"/>
              <a:t>.</a:t>
            </a:r>
          </a:p>
          <a:p>
            <a:endParaRPr lang="en-US" sz="2000" dirty="0"/>
          </a:p>
          <a:p>
            <a:r>
              <a:rPr lang="en-US" sz="2000" dirty="0"/>
              <a:t>The system consists of four key agents:</a:t>
            </a:r>
          </a:p>
          <a:p>
            <a:r>
              <a:rPr lang="en-US" sz="2000" b="1" dirty="0"/>
              <a:t>Career Guidance Agent</a:t>
            </a:r>
            <a:r>
              <a:rPr lang="en-US" sz="2000" dirty="0"/>
              <a:t> – Recommends suitable streams and career paths. </a:t>
            </a:r>
          </a:p>
          <a:p>
            <a:r>
              <a:rPr lang="en-US" sz="2000" b="1" dirty="0"/>
              <a:t>Roadmap Agent</a:t>
            </a:r>
            <a:r>
              <a:rPr lang="en-US" sz="2000" dirty="0"/>
              <a:t> – Generates year-wise learning plans, skills, and certifications. </a:t>
            </a:r>
          </a:p>
          <a:p>
            <a:r>
              <a:rPr lang="en-US" sz="2000" b="1" dirty="0"/>
              <a:t>Career Insights Agent</a:t>
            </a:r>
            <a:r>
              <a:rPr lang="en-US" sz="2000" dirty="0"/>
              <a:t> – Provides information on courses, entrance exams, colleges, and job opportunities. </a:t>
            </a:r>
          </a:p>
          <a:p>
            <a:r>
              <a:rPr lang="en-US" sz="2000" b="1" dirty="0"/>
              <a:t>Skill Development Agent</a:t>
            </a:r>
            <a:r>
              <a:rPr lang="en-US" sz="2000" dirty="0"/>
              <a:t> – Suggests projects, internships, and learning resources. </a:t>
            </a:r>
          </a:p>
          <a:p>
            <a:r>
              <a:rPr lang="en-US" sz="2000" dirty="0"/>
              <a:t>The application includes an </a:t>
            </a:r>
            <a:r>
              <a:rPr lang="en-US" sz="2000" b="1" dirty="0"/>
              <a:t>AI </a:t>
            </a:r>
            <a:r>
              <a:rPr lang="en-US" sz="2000" b="1" dirty="0" err="1"/>
              <a:t>chatbot</a:t>
            </a:r>
            <a:r>
              <a:rPr lang="en-US" sz="2000" dirty="0"/>
              <a:t>, </a:t>
            </a:r>
            <a:r>
              <a:rPr lang="en-US" sz="2000" b="1" dirty="0"/>
              <a:t>student profile</a:t>
            </a:r>
            <a:r>
              <a:rPr lang="en-US" sz="2000" dirty="0"/>
              <a:t>, </a:t>
            </a:r>
            <a:r>
              <a:rPr lang="en-US" sz="2000" b="1" dirty="0"/>
              <a:t>career dashboard</a:t>
            </a:r>
            <a:r>
              <a:rPr lang="en-US" sz="2000" dirty="0"/>
              <a:t>, </a:t>
            </a:r>
            <a:r>
              <a:rPr lang="en-US" sz="2000" b="1" dirty="0"/>
              <a:t>stream selection</a:t>
            </a:r>
            <a:r>
              <a:rPr lang="en-US" sz="2000" dirty="0"/>
              <a:t>, and </a:t>
            </a:r>
            <a:r>
              <a:rPr lang="en-US" sz="2000" b="1" dirty="0"/>
              <a:t>learning roadmap</a:t>
            </a:r>
            <a:r>
              <a:rPr lang="en-US" sz="2000" dirty="0"/>
              <a:t> to help students make informed career decisions.</a:t>
            </a:r>
          </a:p>
          <a:p>
            <a:r>
              <a:rPr lang="en-US" sz="2000" b="1" dirty="0"/>
              <a:t>IBM BOB</a:t>
            </a:r>
            <a:r>
              <a:rPr lang="en-US" sz="2000" dirty="0"/>
              <a:t> is used for application development, </a:t>
            </a:r>
            <a:r>
              <a:rPr lang="en-US" sz="2000" b="1" dirty="0" err="1"/>
              <a:t>watsonx</a:t>
            </a:r>
            <a:r>
              <a:rPr lang="en-US" sz="2000" b="1" dirty="0"/>
              <a:t> Orchestrate</a:t>
            </a:r>
            <a:r>
              <a:rPr lang="en-US" sz="2000" dirty="0"/>
              <a:t> manages AI workflows, and </a:t>
            </a:r>
            <a:r>
              <a:rPr lang="en-US" sz="2000" b="1" dirty="0"/>
              <a:t>Granite Models</a:t>
            </a:r>
            <a:r>
              <a:rPr lang="en-US" sz="2000" dirty="0"/>
              <a:t> provide intelligent recommendations.</a:t>
            </a:r>
          </a:p>
          <a:p>
            <a:r>
              <a:rPr lang="en-US" sz="2000" dirty="0"/>
              <a:t>Overall, </a:t>
            </a:r>
            <a:r>
              <a:rPr lang="en-US" sz="2000" b="1" dirty="0" err="1"/>
              <a:t>EduPath</a:t>
            </a:r>
            <a:r>
              <a:rPr lang="en-US" sz="2000" dirty="0"/>
              <a:t> offers a smart, personalized platform that helps students confidently plan their education and future careers.</a:t>
            </a:r>
          </a:p>
        </p:txBody>
      </p:sp>
    </p:spTree>
    <p:extLst>
      <p:ext uri="{BB962C8B-B14F-4D97-AF65-F5344CB8AC3E}">
        <p14:creationId xmlns:p14="http://schemas.microsoft.com/office/powerpoint/2010/main" val="6194599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300335"/>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914400"/>
            <a:ext cx="10515600" cy="5570756"/>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IBM BOB Platform</a:t>
            </a:r>
            <a:r>
              <a:rPr lang="en-US" sz="2000" dirty="0"/>
              <a:t> – For developing the </a:t>
            </a:r>
            <a:r>
              <a:rPr lang="en-US" sz="2000" dirty="0" err="1"/>
              <a:t>EduPath</a:t>
            </a:r>
            <a:r>
              <a:rPr lang="en-US" sz="2000" dirty="0"/>
              <a:t> web application and integrating AI workflows. </a:t>
            </a:r>
            <a:endParaRPr lang="en-US" sz="2000" dirty="0" smtClean="0"/>
          </a:p>
          <a:p>
            <a:pPr marL="285750" indent="-285750">
              <a:buFont typeface="Arial" panose="020B0604020202020204" pitchFamily="34" charset="0"/>
              <a:buChar char="•"/>
            </a:pPr>
            <a:endParaRPr lang="en-US" sz="2000" dirty="0" smtClean="0"/>
          </a:p>
          <a:p>
            <a:pPr marL="285750" indent="-285750">
              <a:buFont typeface="Arial" panose="020B0604020202020204" pitchFamily="34" charset="0"/>
              <a:buChar char="•"/>
            </a:pPr>
            <a:r>
              <a:rPr lang="en-US" sz="2000" b="1" dirty="0" smtClean="0"/>
              <a:t>IBM </a:t>
            </a:r>
            <a:r>
              <a:rPr lang="en-US" sz="2000" b="1" dirty="0" err="1"/>
              <a:t>watsonx</a:t>
            </a:r>
            <a:r>
              <a:rPr lang="en-US" sz="2000" b="1" dirty="0"/>
              <a:t> Orchestrate</a:t>
            </a:r>
            <a:r>
              <a:rPr lang="en-US" sz="2000" dirty="0"/>
              <a:t> – For creating and managing the </a:t>
            </a:r>
            <a:r>
              <a:rPr lang="en-US" sz="2000" dirty="0" err="1"/>
              <a:t>EduPath</a:t>
            </a:r>
            <a:r>
              <a:rPr lang="en-US" sz="2000" dirty="0"/>
              <a:t> AI agent. </a:t>
            </a:r>
            <a:endParaRPr lang="en-US" sz="2000" dirty="0" smtClean="0"/>
          </a:p>
          <a:p>
            <a:pPr marL="285750" indent="-285750">
              <a:buFont typeface="Arial" panose="020B0604020202020204" pitchFamily="34" charset="0"/>
              <a:buChar char="•"/>
            </a:pPr>
            <a:endParaRPr lang="en-US" sz="2000" b="1" dirty="0" smtClean="0"/>
          </a:p>
          <a:p>
            <a:pPr marL="285750" indent="-285750">
              <a:buFont typeface="Arial" panose="020B0604020202020204" pitchFamily="34" charset="0"/>
              <a:buChar char="•"/>
            </a:pPr>
            <a:r>
              <a:rPr lang="en-US" sz="2000" b="1" dirty="0" smtClean="0"/>
              <a:t>IBM </a:t>
            </a:r>
            <a:r>
              <a:rPr lang="en-US" sz="2000" b="1" dirty="0"/>
              <a:t>Granite Models</a:t>
            </a:r>
            <a:r>
              <a:rPr lang="en-US" sz="2000" dirty="0"/>
              <a:t> </a:t>
            </a:r>
            <a:r>
              <a:rPr lang="en-US" sz="2000" i="1" dirty="0"/>
              <a:t>(e.g., granite-3-2-8b)</a:t>
            </a:r>
            <a:r>
              <a:rPr lang="en-US" sz="2000" dirty="0"/>
              <a:t> – For career guidance, reasoning, roadmap generation, and personalized </a:t>
            </a:r>
            <a:r>
              <a:rPr lang="en-US" sz="2000" dirty="0" smtClean="0"/>
              <a:t>recommendations.</a:t>
            </a:r>
          </a:p>
          <a:p>
            <a:pPr marL="285750" indent="-285750">
              <a:buFont typeface="Arial" panose="020B0604020202020204" pitchFamily="34" charset="0"/>
              <a:buChar char="•"/>
            </a:pPr>
            <a:endParaRPr lang="en-US" sz="2000" b="1" dirty="0" smtClean="0"/>
          </a:p>
          <a:p>
            <a:pPr marL="285750" indent="-285750">
              <a:buFont typeface="Arial" panose="020B0604020202020204" pitchFamily="34" charset="0"/>
              <a:buChar char="•"/>
            </a:pPr>
            <a:r>
              <a:rPr lang="en-US" sz="2000" b="1" dirty="0" smtClean="0"/>
              <a:t>IBM </a:t>
            </a:r>
            <a:r>
              <a:rPr lang="en-US" sz="2000" b="1" dirty="0"/>
              <a:t>Cloud</a:t>
            </a:r>
            <a:r>
              <a:rPr lang="en-US" sz="2000" dirty="0"/>
              <a:t> – Provides a secure and scalable platform for deploying and managing the AI </a:t>
            </a:r>
            <a:r>
              <a:rPr lang="en-US" sz="2000" dirty="0" smtClean="0"/>
              <a:t>application.</a:t>
            </a:r>
          </a:p>
          <a:p>
            <a:pPr marL="285750" indent="-285750">
              <a:buFont typeface="Arial" panose="020B0604020202020204" pitchFamily="34" charset="0"/>
              <a:buChar char="•"/>
            </a:pPr>
            <a:endParaRPr lang="en-US" sz="2000" b="1" dirty="0" smtClean="0"/>
          </a:p>
          <a:p>
            <a:pPr marL="285750" indent="-285750">
              <a:buFont typeface="Arial" panose="020B0604020202020204" pitchFamily="34" charset="0"/>
              <a:buChar char="•"/>
            </a:pPr>
            <a:r>
              <a:rPr lang="en-US" sz="2000" b="1" dirty="0" smtClean="0"/>
              <a:t>Python </a:t>
            </a:r>
            <a:r>
              <a:rPr lang="en-US" sz="2000" b="1" dirty="0"/>
              <a:t>Flask</a:t>
            </a:r>
            <a:r>
              <a:rPr lang="en-US" sz="2000" dirty="0"/>
              <a:t> – Backend framework for handling APIs, routing, and application </a:t>
            </a:r>
            <a:r>
              <a:rPr lang="en-US" sz="2000" dirty="0" smtClean="0"/>
              <a:t>logic.</a:t>
            </a:r>
          </a:p>
          <a:p>
            <a:pPr marL="285750" indent="-285750">
              <a:buFont typeface="Arial" panose="020B0604020202020204" pitchFamily="34" charset="0"/>
              <a:buChar char="•"/>
            </a:pPr>
            <a:endParaRPr lang="en-US" sz="2000" b="1" dirty="0" smtClean="0"/>
          </a:p>
          <a:p>
            <a:pPr marL="285750" indent="-285750">
              <a:buFont typeface="Arial" panose="020B0604020202020204" pitchFamily="34" charset="0"/>
              <a:buChar char="•"/>
            </a:pPr>
            <a:r>
              <a:rPr lang="en-US" sz="2000" b="1" dirty="0" smtClean="0"/>
              <a:t>Bootstrap</a:t>
            </a:r>
            <a:r>
              <a:rPr lang="en-US" sz="2000" b="1" dirty="0"/>
              <a:t>, HTML, CSS &amp; JavaScript</a:t>
            </a:r>
            <a:r>
              <a:rPr lang="en-US" sz="2000" dirty="0"/>
              <a:t> – For building a responsive and interactive user interface. </a:t>
            </a:r>
            <a:endParaRPr lang="en-US" sz="2000" dirty="0" smtClean="0"/>
          </a:p>
          <a:p>
            <a:pPr marL="285750" indent="-285750">
              <a:buFont typeface="Arial" panose="020B0604020202020204" pitchFamily="34" charset="0"/>
              <a:buChar char="•"/>
            </a:pPr>
            <a:endParaRPr lang="en-US" sz="2000" b="1" dirty="0" smtClean="0"/>
          </a:p>
          <a:p>
            <a:pPr marL="285750" indent="-285750">
              <a:buFont typeface="Arial" panose="020B0604020202020204" pitchFamily="34" charset="0"/>
              <a:buChar char="•"/>
            </a:pPr>
            <a:r>
              <a:rPr lang="en-US" sz="2000" b="1" dirty="0" err="1" smtClean="0"/>
              <a:t>GitHub</a:t>
            </a:r>
            <a:r>
              <a:rPr lang="en-US" sz="2000" dirty="0" smtClean="0"/>
              <a:t> </a:t>
            </a:r>
            <a:r>
              <a:rPr lang="en-US" sz="2000" dirty="0"/>
              <a:t>– For version control and project collaboration</a:t>
            </a:r>
            <a:r>
              <a:rPr lang="en-US" sz="2000" dirty="0" smtClean="0"/>
              <a:t>.</a:t>
            </a:r>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4436039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a:extLst>
              <a:ext uri="{FF2B5EF4-FFF2-40B4-BE49-F238E27FC236}">
                <a16:creationId xmlns:a16="http://schemas.microsoft.com/office/drawing/2014/main" xmlns=""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xmlns=""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xmlns=""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xmlns=""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433A290A-6680-D490-E6D4-9336496B1C34}"/>
              </a:ext>
            </a:extLst>
          </p:cNvPr>
          <p:cNvPicPr>
            <a:picLocks noChangeAspect="1"/>
          </p:cNvPicPr>
          <p:nvPr/>
        </p:nvPicPr>
        <p:blipFill>
          <a:blip r:embed="rId2"/>
          <a:stretch>
            <a:fillRect/>
          </a:stretch>
        </p:blipFill>
        <p:spPr>
          <a:xfrm>
            <a:off x="208404"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3" name="Picture 2">
            <a:extLst>
              <a:ext uri="{FF2B5EF4-FFF2-40B4-BE49-F238E27FC236}">
                <a16:creationId xmlns:a16="http://schemas.microsoft.com/office/drawing/2014/main" xmlns="" id="{81932CE2-F219-0CA8-0102-55B8C682B8A2}"/>
              </a:ext>
            </a:extLst>
          </p:cNvPr>
          <p:cNvPicPr>
            <a:picLocks noChangeAspect="1"/>
          </p:cNvPicPr>
          <p:nvPr/>
        </p:nvPicPr>
        <p:blipFill>
          <a:blip r:embed="rId3"/>
          <a:stretch>
            <a:fillRect/>
          </a:stretch>
        </p:blipFill>
        <p:spPr>
          <a:xfrm>
            <a:off x="53340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t>
            </a:r>
            <a:r>
              <a:rPr lang="en-US" sz="3200" b="1" dirty="0" err="1"/>
              <a:t>Agentic</a:t>
            </a:r>
            <a:r>
              <a:rPr lang="en-US" sz="3200" b="1" dirty="0"/>
              <a:t> AI in the </a:t>
            </a:r>
            <a:r>
              <a:rPr lang="en-US" sz="3200" b="1" dirty="0" smtClean="0"/>
              <a:t>solution </a:t>
            </a:r>
            <a:r>
              <a:rPr lang="en-US" sz="3200" b="1" dirty="0" smtClean="0"/>
              <a:t>for </a:t>
            </a:r>
            <a:r>
              <a:rPr lang="en-US" sz="3200" b="1" dirty="0" err="1" smtClean="0"/>
              <a:t>EduPath</a:t>
            </a:r>
            <a:r>
              <a:rPr lang="en-US" sz="3200" b="1" dirty="0" smtClean="0"/>
              <a:t>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5016758"/>
          </a:xfrm>
          <a:prstGeom prst="rect">
            <a:avLst/>
          </a:prstGeom>
          <a:noFill/>
        </p:spPr>
        <p:txBody>
          <a:bodyPr wrap="square" rtlCol="0">
            <a:spAutoFit/>
          </a:bodyPr>
          <a:lstStyle/>
          <a:p>
            <a:r>
              <a:rPr lang="en-US" sz="2000" dirty="0" err="1"/>
              <a:t>Agentic</a:t>
            </a:r>
            <a:r>
              <a:rPr lang="en-US" sz="2000" dirty="0"/>
              <a:t> AI enables </a:t>
            </a:r>
            <a:r>
              <a:rPr lang="en-US" sz="2000" b="1" dirty="0" err="1"/>
              <a:t>EduPath</a:t>
            </a:r>
            <a:r>
              <a:rPr lang="en-US" sz="2000" dirty="0"/>
              <a:t> to act as an intelligent career guidance system rather than a simple </a:t>
            </a:r>
            <a:r>
              <a:rPr lang="en-US" sz="2000" dirty="0" err="1"/>
              <a:t>chatbot</a:t>
            </a:r>
            <a:r>
              <a:rPr lang="en-US" sz="2000" dirty="0"/>
              <a:t>. Using </a:t>
            </a:r>
            <a:r>
              <a:rPr lang="en-US" sz="2000" b="1" dirty="0"/>
              <a:t>IBM </a:t>
            </a:r>
            <a:r>
              <a:rPr lang="en-US" sz="2000" b="1" dirty="0" err="1"/>
              <a:t>watsonx</a:t>
            </a:r>
            <a:r>
              <a:rPr lang="en-US" sz="2000" b="1" dirty="0"/>
              <a:t> Orchestrate</a:t>
            </a:r>
            <a:r>
              <a:rPr lang="en-US" sz="2000" dirty="0"/>
              <a:t> and </a:t>
            </a:r>
            <a:r>
              <a:rPr lang="en-US" sz="2000" b="1" dirty="0"/>
              <a:t>Granite Models</a:t>
            </a:r>
            <a:r>
              <a:rPr lang="en-US" sz="2000" dirty="0"/>
              <a:t>, it coordinates multiple specialized agents to provide personalized academic and career guidance.</a:t>
            </a:r>
          </a:p>
          <a:p>
            <a:r>
              <a:rPr lang="en-US" sz="2000" dirty="0"/>
              <a:t>Each agent performs a specific task, such as </a:t>
            </a:r>
            <a:r>
              <a:rPr lang="en-US" sz="2000" b="1" dirty="0"/>
              <a:t>career guidance, roadmap generation, career insights, and skill development</a:t>
            </a:r>
            <a:r>
              <a:rPr lang="en-US" sz="2000" dirty="0"/>
              <a:t>, while working together to deliver accurate recommendations.</a:t>
            </a:r>
          </a:p>
          <a:p>
            <a:r>
              <a:rPr lang="en-US" sz="2000" dirty="0" err="1"/>
              <a:t>Agentic</a:t>
            </a:r>
            <a:r>
              <a:rPr lang="en-US" sz="2000" dirty="0"/>
              <a:t> AI understands a student's </a:t>
            </a:r>
            <a:r>
              <a:rPr lang="en-US" sz="2000" b="1" dirty="0"/>
              <a:t>interests, strengths, academic background, and career goals</a:t>
            </a:r>
            <a:r>
              <a:rPr lang="en-US" sz="2000" dirty="0"/>
              <a:t> to generate personalized suggestions. It also adapts recommendations based on user inputs and learning progress.</a:t>
            </a:r>
          </a:p>
          <a:p>
            <a:r>
              <a:rPr lang="en-US" sz="2000" dirty="0"/>
              <a:t>Overall, </a:t>
            </a:r>
            <a:r>
              <a:rPr lang="en-US" sz="2000" dirty="0" err="1"/>
              <a:t>Agentic</a:t>
            </a:r>
            <a:r>
              <a:rPr lang="en-US" sz="2000" dirty="0"/>
              <a:t> AI makes </a:t>
            </a:r>
            <a:r>
              <a:rPr lang="en-US" sz="2000" dirty="0" err="1"/>
              <a:t>EduPath</a:t>
            </a:r>
            <a:r>
              <a:rPr lang="en-US" sz="2000" dirty="0"/>
              <a:t> </a:t>
            </a:r>
            <a:r>
              <a:rPr lang="en-US" sz="2000" b="1" dirty="0"/>
              <a:t>smart, personalized, and goal-oriented</a:t>
            </a:r>
            <a:r>
              <a:rPr lang="en-US" sz="2000" dirty="0"/>
              <a:t>, helping students make informed decisions about their education and future careers.</a:t>
            </a:r>
          </a:p>
        </p:txBody>
      </p:sp>
    </p:spTree>
    <p:extLst>
      <p:ext uri="{BB962C8B-B14F-4D97-AF65-F5344CB8AC3E}">
        <p14:creationId xmlns:p14="http://schemas.microsoft.com/office/powerpoint/2010/main" val="4000696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a:t>
            </a:r>
            <a:r>
              <a:rPr lang="en-US" sz="2400" b="1" dirty="0" smtClean="0">
                <a:sym typeface="Times New Roman"/>
              </a:rPr>
              <a:t>Output - Home Screen</a:t>
            </a:r>
            <a:endParaRPr sz="2400" b="1" dirty="0">
              <a:sym typeface="Times New Roman"/>
            </a:endParaRPr>
          </a:p>
        </p:txBody>
      </p:sp>
      <p:sp>
        <p:nvSpPr>
          <p:cNvPr id="280" name="Google Shape;280;p18">
            <a:extLst>
              <a:ext uri="{FF2B5EF4-FFF2-40B4-BE49-F238E27FC236}">
                <a16:creationId xmlns:a16="http://schemas.microsoft.com/office/drawing/2014/main" xmlns=""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762000"/>
            <a:ext cx="7239000" cy="5918335"/>
          </a:xfrm>
          <a:prstGeom prst="rect">
            <a:avLst/>
          </a:prstGeom>
        </p:spPr>
      </p:pic>
    </p:spTree>
    <p:extLst>
      <p:ext uri="{BB962C8B-B14F-4D97-AF65-F5344CB8AC3E}">
        <p14:creationId xmlns:p14="http://schemas.microsoft.com/office/powerpoint/2010/main" val="14299618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a:t>
            </a:r>
            <a:r>
              <a:rPr lang="en-US" sz="2400" b="1" dirty="0" smtClean="0">
                <a:sym typeface="Times New Roman"/>
              </a:rPr>
              <a:t>Output - Dashboard</a:t>
            </a:r>
            <a:endParaRPr sz="2400" b="1" dirty="0">
              <a:sym typeface="Times New Roman"/>
            </a:endParaRPr>
          </a:p>
        </p:txBody>
      </p:sp>
      <p:sp>
        <p:nvSpPr>
          <p:cNvPr id="280" name="Google Shape;280;p18">
            <a:extLst>
              <a:ext uri="{FF2B5EF4-FFF2-40B4-BE49-F238E27FC236}">
                <a16:creationId xmlns:a16="http://schemas.microsoft.com/office/drawing/2014/main" xmlns=""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3936" y="685800"/>
            <a:ext cx="8534400" cy="5793307"/>
          </a:xfrm>
          <a:prstGeom prst="rect">
            <a:avLst/>
          </a:prstGeom>
        </p:spPr>
      </p:pic>
    </p:spTree>
    <p:extLst>
      <p:ext uri="{BB962C8B-B14F-4D97-AF65-F5344CB8AC3E}">
        <p14:creationId xmlns:p14="http://schemas.microsoft.com/office/powerpoint/2010/main" val="35850923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a:t>
            </a:r>
            <a:r>
              <a:rPr lang="en-US" sz="2400" b="1" dirty="0" smtClean="0">
                <a:sym typeface="Times New Roman"/>
              </a:rPr>
              <a:t>– AI Chat</a:t>
            </a:r>
            <a:endParaRPr sz="2400" b="1" dirty="0">
              <a:sym typeface="Times New Roman"/>
            </a:endParaRPr>
          </a:p>
        </p:txBody>
      </p:sp>
      <p:sp>
        <p:nvSpPr>
          <p:cNvPr id="280" name="Google Shape;280;p18">
            <a:extLst>
              <a:ext uri="{FF2B5EF4-FFF2-40B4-BE49-F238E27FC236}">
                <a16:creationId xmlns:a16="http://schemas.microsoft.com/office/drawing/2014/main" xmlns=""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5828" y="762000"/>
            <a:ext cx="8553572" cy="5791200"/>
          </a:xfrm>
          <a:prstGeom prst="rect">
            <a:avLst/>
          </a:prstGeom>
        </p:spPr>
      </p:pic>
      <p:sp>
        <p:nvSpPr>
          <p:cNvPr id="6" name="Rounded Rectangle 5"/>
          <p:cNvSpPr/>
          <p:nvPr/>
        </p:nvSpPr>
        <p:spPr>
          <a:xfrm>
            <a:off x="3505200" y="5943600"/>
            <a:ext cx="4114800" cy="228600"/>
          </a:xfrm>
          <a:prstGeom prst="roundRect">
            <a:avLst/>
          </a:prstGeom>
          <a:solidFill>
            <a:srgbClr val="454545"/>
          </a:solidFill>
          <a:ln>
            <a:solidFill>
              <a:schemeClr val="tx1">
                <a:lumMod val="75000"/>
                <a:lumOff val="2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smtClean="0"/>
              <a:t>I want to know about the streams after 12</a:t>
            </a:r>
            <a:r>
              <a:rPr lang="en-US" sz="1200" baseline="30000" dirty="0" smtClean="0"/>
              <a:t>th</a:t>
            </a:r>
            <a:r>
              <a:rPr lang="en-US" sz="1200" dirty="0" smtClean="0"/>
              <a:t> for my career</a:t>
            </a:r>
            <a:endParaRPr lang="en-US" sz="1200" dirty="0"/>
          </a:p>
        </p:txBody>
      </p:sp>
    </p:spTree>
    <p:extLst>
      <p:ext uri="{BB962C8B-B14F-4D97-AF65-F5344CB8AC3E}">
        <p14:creationId xmlns:p14="http://schemas.microsoft.com/office/powerpoint/2010/main" val="26019071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a:t>
            </a:r>
            <a:r>
              <a:rPr lang="en-US" sz="2400" b="1" dirty="0" smtClean="0">
                <a:sym typeface="Times New Roman"/>
              </a:rPr>
              <a:t>– Profile of Student</a:t>
            </a:r>
          </a:p>
          <a:p>
            <a:pPr>
              <a:lnSpc>
                <a:spcPct val="157142"/>
              </a:lnSpc>
              <a:buClr>
                <a:srgbClr val="051D3A"/>
              </a:buClr>
              <a:buSzPts val="3500"/>
            </a:pPr>
            <a:endParaRPr sz="2400" b="1" dirty="0">
              <a:sym typeface="Times New Roman"/>
            </a:endParaRPr>
          </a:p>
        </p:txBody>
      </p:sp>
      <p:sp>
        <p:nvSpPr>
          <p:cNvPr id="280" name="Google Shape;280;p18">
            <a:extLst>
              <a:ext uri="{FF2B5EF4-FFF2-40B4-BE49-F238E27FC236}">
                <a16:creationId xmlns:a16="http://schemas.microsoft.com/office/drawing/2014/main" xmlns=""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528" y="816977"/>
            <a:ext cx="9544541" cy="5512083"/>
          </a:xfrm>
          <a:prstGeom prst="rect">
            <a:avLst/>
          </a:prstGeom>
        </p:spPr>
      </p:pic>
    </p:spTree>
    <p:extLst>
      <p:ext uri="{BB962C8B-B14F-4D97-AF65-F5344CB8AC3E}">
        <p14:creationId xmlns:p14="http://schemas.microsoft.com/office/powerpoint/2010/main" val="34356748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a:t>
            </a:r>
            <a:r>
              <a:rPr lang="en-US" sz="2400" b="1" dirty="0" smtClean="0">
                <a:sym typeface="Times New Roman"/>
              </a:rPr>
              <a:t>– Profile of Student</a:t>
            </a:r>
          </a:p>
          <a:p>
            <a:pPr>
              <a:lnSpc>
                <a:spcPct val="157142"/>
              </a:lnSpc>
              <a:buClr>
                <a:srgbClr val="051D3A"/>
              </a:buClr>
              <a:buSzPts val="3500"/>
            </a:pPr>
            <a:endParaRPr sz="2400" b="1" dirty="0">
              <a:sym typeface="Times New Roman"/>
            </a:endParaRPr>
          </a:p>
        </p:txBody>
      </p:sp>
      <p:sp>
        <p:nvSpPr>
          <p:cNvPr id="280" name="Google Shape;280;p18">
            <a:extLst>
              <a:ext uri="{FF2B5EF4-FFF2-40B4-BE49-F238E27FC236}">
                <a16:creationId xmlns:a16="http://schemas.microsoft.com/office/drawing/2014/main" xmlns=""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720418"/>
            <a:ext cx="8624887" cy="583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60629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533400" y="38100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457200" y="1066800"/>
            <a:ext cx="11301984" cy="5016758"/>
          </a:xfrm>
          <a:prstGeom prst="rect">
            <a:avLst/>
          </a:prstGeom>
          <a:noFill/>
        </p:spPr>
        <p:txBody>
          <a:bodyPr wrap="square" rtlCol="0">
            <a:spAutoFit/>
          </a:bodyPr>
          <a:lstStyle/>
          <a:p>
            <a:r>
              <a:rPr lang="en-US" sz="2000" dirty="0"/>
              <a:t>The proposed </a:t>
            </a:r>
            <a:r>
              <a:rPr lang="en-US" sz="2000" b="1" dirty="0" err="1"/>
              <a:t>EduPath</a:t>
            </a:r>
            <a:r>
              <a:rPr lang="en-US" sz="2000" dirty="0"/>
              <a:t> stands out by combining </a:t>
            </a:r>
            <a:r>
              <a:rPr lang="en-US" sz="2000" b="1" dirty="0" err="1"/>
              <a:t>Agentic</a:t>
            </a:r>
            <a:r>
              <a:rPr lang="en-US" sz="2000" b="1" dirty="0"/>
              <a:t> AI, personalized career guidance, and structured learning roadmaps</a:t>
            </a:r>
            <a:r>
              <a:rPr lang="en-US" sz="2000" dirty="0"/>
              <a:t> into a single intelligent platform.</a:t>
            </a:r>
          </a:p>
          <a:p>
            <a:r>
              <a:rPr lang="en-US" sz="2000" b="1" dirty="0"/>
              <a:t>Multi-Agent Intelligence</a:t>
            </a:r>
            <a:r>
              <a:rPr lang="en-US" sz="2000" dirty="0"/>
              <a:t> – Multiple specialized agents collaborate to provide accurate career and academic guidance. </a:t>
            </a:r>
          </a:p>
          <a:p>
            <a:r>
              <a:rPr lang="en-US" sz="2000" b="1" dirty="0"/>
              <a:t>Personalized Recommendations</a:t>
            </a:r>
            <a:r>
              <a:rPr lang="en-US" sz="2000" dirty="0"/>
              <a:t> – Suggests streams, courses, and career paths based on students' interests, strengths, and goals. </a:t>
            </a:r>
          </a:p>
          <a:p>
            <a:r>
              <a:rPr lang="en-US" sz="2000" b="1" dirty="0"/>
              <a:t>Year-wise Learning Roadmaps</a:t>
            </a:r>
            <a:r>
              <a:rPr lang="en-US" sz="2000" dirty="0"/>
              <a:t> – Provides structured study plans, skills, certifications, and project recommendations. </a:t>
            </a:r>
          </a:p>
          <a:p>
            <a:r>
              <a:rPr lang="en-US" sz="2000" b="1" dirty="0"/>
              <a:t>Interactive AI Guidance</a:t>
            </a:r>
            <a:r>
              <a:rPr lang="en-US" sz="2000" dirty="0"/>
              <a:t> – Enables real-time conversations for career counseling and academic support. </a:t>
            </a:r>
          </a:p>
          <a:p>
            <a:r>
              <a:rPr lang="en-US" sz="2000" b="1" dirty="0"/>
              <a:t>Student-Centric Dashboard</a:t>
            </a:r>
            <a:r>
              <a:rPr lang="en-US" sz="2000" dirty="0"/>
              <a:t> – Displays profiles, career progress, and personalized learning paths. </a:t>
            </a:r>
          </a:p>
          <a:p>
            <a:r>
              <a:rPr lang="en-US" sz="2000" b="1" dirty="0"/>
              <a:t>Scalable &amp; Enterprise-Ready</a:t>
            </a:r>
            <a:r>
              <a:rPr lang="en-US" sz="2000" dirty="0"/>
              <a:t> – Built using </a:t>
            </a:r>
            <a:r>
              <a:rPr lang="en-US" sz="2000" b="1" dirty="0"/>
              <a:t>IBM </a:t>
            </a:r>
            <a:r>
              <a:rPr lang="en-US" sz="2000" b="1" dirty="0" err="1"/>
              <a:t>watsonx</a:t>
            </a:r>
            <a:r>
              <a:rPr lang="en-US" sz="2000" b="1" dirty="0"/>
              <a:t> Orchestrate, IBM BOB, and Granite Models</a:t>
            </a:r>
            <a:r>
              <a:rPr lang="en-US" sz="2000" dirty="0"/>
              <a:t> for reliable AI-powered guidance</a:t>
            </a:r>
            <a:r>
              <a:rPr lang="en-US" sz="2000" dirty="0" smtClean="0"/>
              <a:t>.</a:t>
            </a:r>
          </a:p>
          <a:p>
            <a:r>
              <a:rPr lang="en-US" sz="2000" b="1" dirty="0"/>
              <a:t>This makes </a:t>
            </a:r>
            <a:r>
              <a:rPr lang="en-US" sz="2000" b="1" dirty="0" err="1"/>
              <a:t>EduPath</a:t>
            </a:r>
            <a:r>
              <a:rPr lang="en-US" sz="2000" b="1" dirty="0"/>
              <a:t> a smart, personalized, and goal-oriented career guidance platform rather than just a basic educational </a:t>
            </a:r>
            <a:r>
              <a:rPr lang="en-US" sz="2000" b="1" dirty="0" err="1"/>
              <a:t>chatbot</a:t>
            </a:r>
            <a:r>
              <a:rPr lang="en-US" sz="2000" b="1" dirty="0" smtClean="0"/>
              <a:t>.</a:t>
            </a:r>
            <a:endParaRPr lang="en-US" sz="2000" dirty="0"/>
          </a:p>
        </p:txBody>
      </p:sp>
    </p:spTree>
    <p:extLst>
      <p:ext uri="{BB962C8B-B14F-4D97-AF65-F5344CB8AC3E}">
        <p14:creationId xmlns:p14="http://schemas.microsoft.com/office/powerpoint/2010/main" val="23252822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err="1" smtClean="0">
                <a:solidFill>
                  <a:srgbClr val="2B3541"/>
                </a:solidFill>
                <a:latin typeface="Times New Roman"/>
                <a:ea typeface="Times New Roman"/>
                <a:cs typeface="Times New Roman"/>
                <a:sym typeface="Times New Roman"/>
              </a:rPr>
              <a:t>Github</a:t>
            </a:r>
            <a:r>
              <a:rPr lang="en-US" sz="2000" dirty="0" smtClean="0">
                <a:solidFill>
                  <a:srgbClr val="2B3541"/>
                </a:solidFill>
                <a:latin typeface="Times New Roman"/>
                <a:ea typeface="Times New Roman"/>
                <a:cs typeface="Times New Roman"/>
                <a:sym typeface="Times New Roman"/>
              </a:rPr>
              <a:t> </a:t>
            </a:r>
            <a:r>
              <a:rPr lang="en-US" sz="2000" dirty="0">
                <a:solidFill>
                  <a:srgbClr val="2B3541"/>
                </a:solidFill>
                <a:latin typeface="Times New Roman"/>
                <a:ea typeface="Times New Roman"/>
                <a:cs typeface="Times New Roman"/>
                <a:sym typeface="Times New Roman"/>
              </a:rPr>
              <a:t>URL </a:t>
            </a:r>
            <a:r>
              <a:rPr lang="en-US" sz="2000" dirty="0">
                <a:solidFill>
                  <a:srgbClr val="2B3541"/>
                </a:solidFill>
                <a:latin typeface="Times New Roman"/>
                <a:ea typeface="Times New Roman"/>
                <a:cs typeface="Times New Roman"/>
                <a:sym typeface="Times New Roman"/>
              </a:rPr>
              <a:t>– https://</a:t>
            </a:r>
            <a:r>
              <a:rPr lang="en-US" sz="2000" dirty="0" smtClean="0">
                <a:solidFill>
                  <a:srgbClr val="2B3541"/>
                </a:solidFill>
                <a:latin typeface="Times New Roman"/>
                <a:ea typeface="Times New Roman"/>
                <a:cs typeface="Times New Roman"/>
                <a:sym typeface="Times New Roman"/>
              </a:rPr>
              <a:t>github.com/Krishna-Kode/EduPath.git</a:t>
            </a:r>
            <a:endParaRPr lang="en-US" sz="2000"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a:t>
            </a:r>
            <a:r>
              <a:rPr lang="en-US" sz="1850" b="1" i="0" u="none" strike="noStrike" cap="none" dirty="0" err="1">
                <a:solidFill>
                  <a:srgbClr val="2B3541"/>
                </a:solidFill>
                <a:latin typeface="Times New Roman"/>
                <a:ea typeface="Times New Roman"/>
                <a:cs typeface="Times New Roman"/>
                <a:sym typeface="Times New Roman"/>
              </a:rPr>
              <a:t>Wearables</a:t>
            </a:r>
            <a:r>
              <a:rPr lang="en-US" sz="1850" b="1" i="0" u="none" strike="noStrike" cap="none" dirty="0">
                <a:solidFill>
                  <a:srgbClr val="2B3541"/>
                </a:solidFill>
                <a:latin typeface="Times New Roman"/>
                <a:ea typeface="Times New Roman"/>
                <a:cs typeface="Times New Roman"/>
                <a:sym typeface="Times New Roman"/>
              </a:rPr>
              <a:t>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a:t>
            </a:r>
            <a:r>
              <a:rPr lang="en-US" sz="1850" b="0" i="0" u="none" strike="noStrike" cap="none" dirty="0" err="1">
                <a:solidFill>
                  <a:srgbClr val="2B3541"/>
                </a:solidFill>
                <a:latin typeface="Times New Roman"/>
                <a:ea typeface="Times New Roman"/>
                <a:cs typeface="Times New Roman"/>
                <a:sym typeface="Times New Roman"/>
              </a:rPr>
              <a:t>smartwatches</a:t>
            </a:r>
            <a:r>
              <a:rPr lang="en-US" sz="1850" b="0" i="0" u="none" strike="noStrike" cap="none" dirty="0">
                <a:solidFill>
                  <a:srgbClr val="2B3541"/>
                </a:solidFill>
                <a:latin typeface="Times New Roman"/>
                <a:ea typeface="Times New Roman"/>
                <a:cs typeface="Times New Roman"/>
                <a:sym typeface="Times New Roman"/>
              </a:rPr>
              <a:t>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866365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a:t>
            </a:r>
            <a:r>
              <a:rPr lang="en-US" sz="2400" b="1" dirty="0" smtClean="0"/>
              <a:t>Earned :</a:t>
            </a:r>
            <a:r>
              <a:rPr lang="en-US" dirty="0" smtClean="0"/>
              <a:t> </a:t>
            </a:r>
            <a:r>
              <a:rPr lang="en-US" sz="2400" dirty="0"/>
              <a:t>G</a:t>
            </a:r>
            <a:r>
              <a:rPr lang="en-US" sz="2400" dirty="0" smtClean="0"/>
              <a:t>etting Started with </a:t>
            </a:r>
            <a:r>
              <a:rPr lang="en-US" sz="2400" dirty="0" err="1" smtClean="0"/>
              <a:t>Artifical</a:t>
            </a:r>
            <a:r>
              <a:rPr lang="en-US" sz="2400" dirty="0" smtClean="0"/>
              <a:t> Intelligence</a:t>
            </a:r>
            <a:endParaRPr lang="en-US" sz="2400" b="1"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511" y="914118"/>
            <a:ext cx="7340977" cy="5486682"/>
          </a:xfrm>
          <a:prstGeom prst="rect">
            <a:avLst/>
          </a:prstGeom>
          <a:ln>
            <a:noFill/>
          </a:ln>
          <a:effectLst>
            <a:softEdge rad="112500"/>
          </a:effectLst>
        </p:spPr>
      </p:pic>
    </p:spTree>
    <p:extLst>
      <p:ext uri="{BB962C8B-B14F-4D97-AF65-F5344CB8AC3E}">
        <p14:creationId xmlns:p14="http://schemas.microsoft.com/office/powerpoint/2010/main" val="28334827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904350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a:t>
            </a:r>
            <a:r>
              <a:rPr lang="en-US" sz="2400" b="1" i="0" u="none" strike="noStrike" baseline="0" dirty="0" smtClean="0">
                <a:solidFill>
                  <a:srgbClr val="000000"/>
                </a:solidFill>
                <a:latin typeface="Arial"/>
              </a:rPr>
              <a:t>Earned : </a:t>
            </a:r>
            <a:r>
              <a:rPr lang="en-US" sz="2400" i="0" u="none" strike="noStrike" baseline="0" dirty="0" smtClean="0">
                <a:solidFill>
                  <a:srgbClr val="000000"/>
                </a:solidFill>
                <a:latin typeface="Arial"/>
              </a:rPr>
              <a:t>Troubleshoot Your</a:t>
            </a:r>
            <a:r>
              <a:rPr lang="en-US" sz="2400" i="0" u="none" strike="noStrike" dirty="0" smtClean="0">
                <a:solidFill>
                  <a:srgbClr val="000000"/>
                </a:solidFill>
                <a:latin typeface="Arial"/>
              </a:rPr>
              <a:t> Code Using</a:t>
            </a:r>
            <a:r>
              <a:rPr lang="en-US" sz="2400" i="0" u="none" strike="noStrike" baseline="0" dirty="0" smtClean="0">
                <a:solidFill>
                  <a:srgbClr val="000000"/>
                </a:solidFill>
                <a:latin typeface="Arial"/>
              </a:rPr>
              <a:t> IBM Bob</a:t>
            </a:r>
            <a:r>
              <a:rPr sz="2400" b="0" i="0" dirty="0" smtClean="0">
                <a:solidFill>
                  <a:srgbClr val="000000"/>
                </a:solidFill>
                <a:latin typeface="Arial"/>
                <a:ea typeface="Arial"/>
                <a:cs typeface="Arial"/>
              </a:rPr>
              <a:t>​</a:t>
            </a:r>
            <a:endParaRPr lang="en-US" dirty="0"/>
          </a:p>
          <a:p>
            <a:pPr algn="ct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533" y="1177809"/>
            <a:ext cx="7448933" cy="4502381"/>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1751777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957</Words>
  <Application>Microsoft Office PowerPoint</Application>
  <PresentationFormat>Custom</PresentationFormat>
  <Paragraphs>125</Paragraphs>
  <Slides>21</Slides>
  <Notes>17</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ismail - [2010]</cp:lastModifiedBy>
  <cp:revision>11</cp:revision>
  <dcterms:created xsi:type="dcterms:W3CDTF">2025-07-08T05:06:56Z</dcterms:created>
  <dcterms:modified xsi:type="dcterms:W3CDTF">2026-08-06T18:10:08Z</dcterms:modified>
</cp:coreProperties>
</file>